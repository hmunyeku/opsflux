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0000"/>
            <a:ext cx="108204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5C9C"/>
                </a:solidFill>
                <a:latin typeface="Calibri"/>
              </a:rPr>
              <a:t>PLATEFORME MÉTIER  ·  CONFORMITÉ AU CADRE SI GROUPE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0000"/>
            <a:ext cx="108204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D23"/>
                </a:solidFill>
                <a:latin typeface="Calibri"/>
              </a:rPr>
              <a:t>OpsFlux répond aux exigences de la DSI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0000"/>
            <a:ext cx="108204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C636E"/>
                </a:solidFill>
                <a:latin typeface="Calibri"/>
              </a:rPr>
              <a:t>Modulaire · API-first · multi-filiale · RGPD · aligné ISO 27001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0000"/>
            <a:ext cx="560000" cy="38100"/>
          </a:xfrm>
          <a:prstGeom prst="rect">
            <a:avLst/>
          </a:prstGeom>
          <a:solidFill>
            <a:srgbClr val="0A5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80000"/>
            <a:ext cx="35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909A"/>
                </a:solidFill>
                <a:latin typeface="Calibri"/>
              </a:rPr>
              <a:t>EXIGENCE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800" y="2180000"/>
            <a:ext cx="70604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909A"/>
                </a:solidFill>
                <a:latin typeface="Calibri"/>
              </a:rPr>
              <a:t>RÉPONSE OPSFLUX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10000"/>
            <a:ext cx="10820400" cy="9525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80000"/>
            <a:ext cx="35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C636E"/>
                </a:solidFill>
                <a:latin typeface="Calibri"/>
              </a:rPr>
              <a:t>Fiabilité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5800" y="2580000"/>
            <a:ext cx="706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>
                <a:solidFill>
                  <a:srgbClr val="1A1D23"/>
                </a:solidFill>
                <a:latin typeface="Calibri"/>
              </a:rPr>
              <a:t>Stack standard (FastAPI, PostgreSQL 16, React) — </a:t>
            </a:r>
            <a:r>
              <a:rPr sz="1400" b="1">
                <a:solidFill>
                  <a:srgbClr val="1A1D23"/>
                </a:solidFill>
                <a:latin typeface="Calibri"/>
              </a:rPr>
              <a:t>tests, lint et typage statique automatisés</a:t>
            </a:r>
            <a:r>
              <a:rPr sz="1400" b="0">
                <a:solidFill>
                  <a:srgbClr val="1A1D23"/>
                </a:solidFill>
                <a:latin typeface="Calibri"/>
              </a:rPr>
              <a:t>, build Docker bloquant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70000"/>
            <a:ext cx="10820400" cy="9525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40000"/>
            <a:ext cx="35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C636E"/>
                </a:solidFill>
                <a:latin typeface="Calibri"/>
              </a:rPr>
              <a:t>Pérennité / non-dépendance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5800" y="3140000"/>
            <a:ext cx="706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>
                <a:solidFill>
                  <a:srgbClr val="1A1D23"/>
                </a:solidFill>
                <a:latin typeface="Calibri"/>
              </a:rPr>
              <a:t>Architecture </a:t>
            </a:r>
            <a:r>
              <a:rPr sz="1400" b="1">
                <a:solidFill>
                  <a:srgbClr val="1A1D23"/>
                </a:solidFill>
                <a:latin typeface="Calibri"/>
              </a:rPr>
              <a:t>modulaire</a:t>
            </a:r>
            <a:r>
              <a:rPr sz="1400" b="0">
                <a:solidFill>
                  <a:srgbClr val="1A1D23"/>
                </a:solidFill>
                <a:latin typeface="Calibri"/>
              </a:rPr>
              <a:t> (18 modules), code </a:t>
            </a:r>
            <a:r>
              <a:rPr sz="1400" b="1">
                <a:solidFill>
                  <a:srgbClr val="1A1D23"/>
                </a:solidFill>
                <a:latin typeface="Calibri"/>
              </a:rPr>
              <a:t>sur GitHub</a:t>
            </a:r>
            <a:r>
              <a:rPr sz="1400" b="0">
                <a:solidFill>
                  <a:srgbClr val="1A1D23"/>
                </a:solidFill>
                <a:latin typeface="Calibri"/>
              </a:rPr>
              <a:t>, documenté, API auto-documentée — reprise possible par tout intervenant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630000"/>
            <a:ext cx="10820400" cy="9525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0000"/>
            <a:ext cx="35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C636E"/>
                </a:solidFill>
                <a:latin typeface="Calibri"/>
              </a:rPr>
              <a:t>Multi-filiale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5800" y="3700000"/>
            <a:ext cx="706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1A1D23"/>
                </a:solidFill>
                <a:latin typeface="Calibri"/>
              </a:rPr>
              <a:t>Multi-tenant natif</a:t>
            </a:r>
            <a:r>
              <a:rPr sz="1400" b="0">
                <a:solidFill>
                  <a:srgbClr val="1A1D23"/>
                </a:solidFill>
                <a:latin typeface="Calibri"/>
              </a:rPr>
              <a:t> : cloisonnement des données par filiale au niveau infrastructure (schémas dédiés)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90000"/>
            <a:ext cx="10820400" cy="9525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60000"/>
            <a:ext cx="35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C636E"/>
                </a:solidFill>
                <a:latin typeface="Calibri"/>
              </a:rPr>
              <a:t>Intégration au SI Groupe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800" y="4260000"/>
            <a:ext cx="706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solidFill>
                  <a:srgbClr val="1A1D23"/>
                </a:solidFill>
                <a:latin typeface="Calibri"/>
              </a:rPr>
              <a:t>API REST documentée</a:t>
            </a:r>
            <a:r>
              <a:rPr sz="1400" b="0">
                <a:solidFill>
                  <a:srgbClr val="1A1D23"/>
                </a:solidFill>
                <a:latin typeface="Calibri"/>
              </a:rPr>
              <a:t> (OpenAPI) · </a:t>
            </a:r>
            <a:r>
              <a:rPr sz="1400" b="1">
                <a:solidFill>
                  <a:srgbClr val="1A1D23"/>
                </a:solidFill>
                <a:latin typeface="Calibri"/>
              </a:rPr>
              <a:t>SSO Active Directory</a:t>
            </a:r>
            <a:r>
              <a:rPr sz="1400" b="0">
                <a:solidFill>
                  <a:srgbClr val="1A1D23"/>
                </a:solidFill>
                <a:latin typeface="Calibri"/>
              </a:rPr>
              <a:t> / OAuth2 · bus d'événements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750000"/>
            <a:ext cx="10820400" cy="9525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20000"/>
            <a:ext cx="35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C636E"/>
                </a:solidFill>
                <a:latin typeface="Calibri"/>
              </a:rPr>
              <a:t>RGPD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5800" y="4820000"/>
            <a:ext cx="706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>
                <a:solidFill>
                  <a:srgbClr val="1A1D23"/>
                </a:solidFill>
                <a:latin typeface="Calibri"/>
              </a:rPr>
              <a:t>Droits des personnes </a:t>
            </a:r>
            <a:r>
              <a:rPr sz="1400" b="1">
                <a:solidFill>
                  <a:srgbClr val="1A1D23"/>
                </a:solidFill>
                <a:latin typeface="Calibri"/>
              </a:rPr>
              <a:t>implémentés</a:t>
            </a:r>
            <a:r>
              <a:rPr sz="1400" b="0">
                <a:solidFill>
                  <a:srgbClr val="1A1D23"/>
                </a:solidFill>
                <a:latin typeface="Calibri"/>
              </a:rPr>
              <a:t> : accès, effacement, portabilité, consentement, notification de violation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310000"/>
            <a:ext cx="10820400" cy="9525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80000"/>
            <a:ext cx="35000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C636E"/>
                </a:solidFill>
                <a:latin typeface="Calibri"/>
              </a:rPr>
              <a:t>Sécurité (ISO 27001)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800" y="5380000"/>
            <a:ext cx="706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 b="0">
                <a:solidFill>
                  <a:srgbClr val="1A1D23"/>
                </a:solidFill>
                <a:latin typeface="Calibri"/>
              </a:rPr>
              <a:t>MFA · RBAC · </a:t>
            </a:r>
            <a:r>
              <a:rPr sz="1400" b="1">
                <a:solidFill>
                  <a:srgbClr val="1A1D23"/>
                </a:solidFill>
                <a:latin typeface="Calibri"/>
              </a:rPr>
              <a:t>chiffrement AES-256</a:t>
            </a:r>
            <a:r>
              <a:rPr sz="1400" b="0">
                <a:solidFill>
                  <a:srgbClr val="1A1D23"/>
                </a:solidFill>
                <a:latin typeface="Calibri"/>
              </a:rPr>
              <a:t> · journal d'audit immuable · durcissement HTTP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180000"/>
            <a:ext cx="10820400" cy="25400"/>
          </a:xfrm>
          <a:prstGeom prst="rect">
            <a:avLst/>
          </a:prstGeom>
          <a:solidFill>
            <a:srgbClr val="1A1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300000"/>
            <a:ext cx="900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A1D23"/>
                </a:solidFill>
                <a:latin typeface="Calibri"/>
              </a:rPr>
              <a:t>Conçu pour </a:t>
            </a:r>
            <a:r>
              <a:rPr sz="1600" b="1">
                <a:solidFill>
                  <a:srgbClr val="0A5C9C"/>
                </a:solidFill>
                <a:latin typeface="Calibri"/>
              </a:rPr>
              <a:t>entrer dans votre cadre</a:t>
            </a:r>
            <a:r>
              <a:rPr sz="1600" b="1">
                <a:solidFill>
                  <a:srgbClr val="1A1D23"/>
                </a:solidFill>
                <a:latin typeface="Calibri"/>
              </a:rPr>
              <a:t>, pas pour le contourner.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6200" y="6320000"/>
            <a:ext cx="20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8A909A"/>
                </a:solidFill>
                <a:latin typeface="Calibri"/>
              </a:rPr>
              <a:t>OpsFlux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